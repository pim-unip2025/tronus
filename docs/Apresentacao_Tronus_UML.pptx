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914400"/>
            <a:ext cx="365760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37744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600" b="1">
                <a:solidFill>
                  <a:srgbClr val="D4AF37"/>
                </a:solidFill>
                <a:latin typeface="Arial"/>
              </a:defRPr>
            </a:pPr>
            <a:r>
              <a:t>TRONUS DESKTOP</a:t>
            </a:r>
          </a:p>
          <a:p>
            <a:pPr algn="ctr">
              <a:spcAft>
                <a:spcPts val="400"/>
              </a:spcAft>
              <a:defRPr sz="1800" b="1">
                <a:solidFill>
                  <a:srgbClr val="F8FAFC"/>
                </a:solidFill>
                <a:latin typeface="Arial"/>
              </a:defRPr>
            </a:pPr>
            <a:r>
              <a:t>Modelagem e Engenharia de Software da Aplicação Desktop (.NET 10 / C#)</a:t>
            </a:r>
          </a:p>
          <a:p>
            <a:pPr algn="ctr">
              <a:defRPr sz="1300">
                <a:solidFill>
                  <a:srgbClr val="CBD5E1"/>
                </a:solidFill>
                <a:latin typeface="Calibri"/>
              </a:defRPr>
            </a:pPr>
            <a:r>
              <a:t>Especificação Completa: Diagramas de Casos de Uso, Atividades e Sequência (UML 2.5 / Astah)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4754880"/>
            <a:ext cx="816833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4892040"/>
            <a:ext cx="78025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D4AF37"/>
                </a:solidFill>
                <a:latin typeface="Arial"/>
              </a:defRPr>
            </a:pPr>
            <a:r>
              <a:t>Projeto Integrado Multidisciplinar (PIM III) · UNIP 2026</a:t>
            </a:r>
          </a:p>
          <a:p>
            <a:pPr algn="ctr">
              <a:defRPr sz="1100">
                <a:solidFill>
                  <a:srgbClr val="F8FAFC"/>
                </a:solidFill>
                <a:latin typeface="Calibri"/>
              </a:defRPr>
            </a:pPr>
            <a:r>
              <a:t>Curso Superior de Tecnologia em Análise e Desenvolvimento de Sistemas (ADS)</a:t>
            </a:r>
          </a:p>
          <a:p>
            <a:pPr algn="ctr">
              <a:defRPr sz="1050">
                <a:solidFill>
                  <a:srgbClr val="94A3B8"/>
                </a:solidFill>
                <a:latin typeface="Calibri"/>
              </a:defRPr>
            </a:pPr>
            <a:r>
              <a:t>Disciplina de Referência: Engenharia de Software Ágil Aplicada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ROTEIRO DA APRESENTAÇÃO</a:t>
            </a:r>
          </a:p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Sumário Executivo e Estrutura dos Modelos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1345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8648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4AF37"/>
                </a:solidFill>
                <a:latin typeface="Arial"/>
              </a:defRPr>
            </a:pPr>
            <a:r>
              <a:t>BLOCO I: MODELAGEM FUNCIONAL</a:t>
            </a:r>
          </a:p>
          <a:p>
            <a:pPr>
              <a:spcAft>
                <a:spcPts val="14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Diagramas de Casos de Uso (UML)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38BDF8"/>
                </a:solidFill>
                <a:latin typeface="Arial"/>
              </a:rPr>
              <a:t>✔ Atores Formais
</a:t>
            </a:r>
            <a:r>
              <a:rPr sz="1000">
                <a:solidFill>
                  <a:srgbClr val="CBD5E1"/>
                </a:solidFill>
                <a:latin typeface="Calibri"/>
              </a:rPr>
              <a:t>Estudante, Professor, Administrador e Sistema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38BDF8"/>
                </a:solidFill>
                <a:latin typeface="Arial"/>
              </a:rPr>
              <a:t>✔ Dependências
</a:t>
            </a:r>
            <a:r>
              <a:rPr sz="1000">
                <a:solidFill>
                  <a:srgbClr val="CBD5E1"/>
                </a:solidFill>
                <a:latin typeface="Calibri"/>
              </a:rPr>
              <a:t>Relações &lt;&lt;include&gt;&gt; e &lt;&lt;extend&gt;&gt;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38BDF8"/>
                </a:solidFill>
                <a:latin typeface="Arial"/>
              </a:rPr>
              <a:t>✔ Rastreabilidade
</a:t>
            </a:r>
            <a:r>
              <a:rPr sz="1000">
                <a:solidFill>
                  <a:srgbClr val="CBD5E1"/>
                </a:solidFill>
                <a:latin typeface="Calibri"/>
              </a:rPr>
              <a:t>Mapeamento rigoroso dos Requisitos RF01 a RF15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1345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28648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4AF37"/>
                </a:solidFill>
                <a:latin typeface="Arial"/>
              </a:defRPr>
            </a:pPr>
            <a:r>
              <a:t>BLOCO II: MODELAGEM PROCEDURAL</a:t>
            </a:r>
          </a:p>
          <a:p>
            <a:pPr>
              <a:spcAft>
                <a:spcPts val="14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Diagramas de Atividades (DA01 a DA06)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38BDF8"/>
                </a:solidFill>
                <a:latin typeface="Arial"/>
              </a:rPr>
              <a:t>✔ Lógica de Processos
</a:t>
            </a:r>
            <a:r>
              <a:rPr sz="1000">
                <a:solidFill>
                  <a:srgbClr val="CBD5E1"/>
                </a:solidFill>
                <a:latin typeface="Calibri"/>
              </a:rPr>
              <a:t>Raias de responsabilidade (Swimlanes)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38BDF8"/>
                </a:solidFill>
                <a:latin typeface="Arial"/>
              </a:rPr>
              <a:t>✔ Diferenciais
</a:t>
            </a:r>
            <a:r>
              <a:rPr sz="1000">
                <a:solidFill>
                  <a:srgbClr val="CBD5E1"/>
                </a:solidFill>
                <a:latin typeface="Calibri"/>
              </a:rPr>
              <a:t>Resiliência offline, gamificação e acessibilidade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38BDF8"/>
                </a:solidFill>
                <a:latin typeface="Arial"/>
              </a:rPr>
              <a:t>✔ Tomadas de Decisão
</a:t>
            </a:r>
            <a:r>
              <a:rPr sz="1000">
                <a:solidFill>
                  <a:srgbClr val="CBD5E1"/>
                </a:solidFill>
                <a:latin typeface="Calibri"/>
              </a:rPr>
              <a:t>Bifurcações, concorrência e sincronização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41345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920240"/>
            <a:ext cx="28648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D4AF37"/>
                </a:solidFill>
                <a:latin typeface="Arial"/>
              </a:defRPr>
            </a:pPr>
            <a:r>
              <a:t>BLOCO III: MODELAGEM DINÂMICA</a:t>
            </a:r>
          </a:p>
          <a:p>
            <a:pPr>
              <a:spcAft>
                <a:spcPts val="14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Diagramas de Sequência (DS01 a DS11)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38BDF8"/>
                </a:solidFill>
                <a:latin typeface="Arial"/>
              </a:rPr>
              <a:t>✔ Interação Temporal
</a:t>
            </a:r>
            <a:r>
              <a:rPr sz="1000">
                <a:solidFill>
                  <a:srgbClr val="CBD5E1"/>
                </a:solidFill>
                <a:latin typeface="Calibri"/>
              </a:rPr>
              <a:t>Linhas de vida (Lifelines) e troca de mensagens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38BDF8"/>
                </a:solidFill>
                <a:latin typeface="Arial"/>
              </a:rPr>
              <a:t>✔ Cobertura Integral
</a:t>
            </a:r>
            <a:r>
              <a:rPr sz="1000">
                <a:solidFill>
                  <a:srgbClr val="CBD5E1"/>
                </a:solidFill>
                <a:latin typeface="Calibri"/>
              </a:rPr>
              <a:t>11 diagramas cobrindo cada tela (UserControl)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38BDF8"/>
                </a:solidFill>
                <a:latin typeface="Arial"/>
              </a:rPr>
              <a:t>✔ Arquitetura Thin Client
</a:t>
            </a:r>
            <a:r>
              <a:rPr sz="1000">
                <a:solidFill>
                  <a:srgbClr val="CBD5E1"/>
                </a:solidFill>
                <a:latin typeface="Calibri"/>
              </a:rPr>
              <a:t>Injeção de JWT, REST HTTPS e banco Supabase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MODELAGEM FUNCIONAL · UML 2.5</a:t>
            </a:r>
          </a:p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Diagrama de Casos de Uso — Perfil Estudante / Aluno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577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sos de uso (Estudante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61046"/>
            <a:ext cx="5212080" cy="274174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63040"/>
            <a:ext cx="496793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VISÃO GERAL DO ATOR ESTUDANTE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O estudante é o protagonista da plataforma gamificada, interagindo com trilhas pedagógicas dos 5 Reinos (Python, C++, Banco de Dados, Redes e Engenharia de Software).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CASOS DE USO MODELADOS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UC01: Autenticar Aluno: </a:t>
            </a:r>
            <a:r>
              <a:rPr sz="1000">
                <a:solidFill>
                  <a:srgbClr val="CBD5E1"/>
                </a:solidFill>
                <a:latin typeface="Calibri"/>
              </a:rPr>
              <a:t>Validação de credenciais e injeção do Bearer JWT.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UC04: Forjar Herói: </a:t>
            </a:r>
            <a:r>
              <a:rPr sz="1000">
                <a:solidFill>
                  <a:srgbClr val="CBD5E1"/>
                </a:solidFill>
                <a:latin typeface="Calibri"/>
              </a:rPr>
              <a:t>Criação mandatória de avatar e gênero no 1º login.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UC05: Explorar Reinos: </a:t>
            </a:r>
            <a:r>
              <a:rPr sz="1000">
                <a:solidFill>
                  <a:srgbClr val="CBD5E1"/>
                </a:solidFill>
                <a:latin typeface="Calibri"/>
              </a:rPr>
              <a:t>Navegação por mapa medieval com desbloqueio sequencial.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UC06: Resolver Quiz: </a:t>
            </a:r>
            <a:r>
              <a:rPr sz="1000">
                <a:solidFill>
                  <a:srgbClr val="CBD5E1"/>
                </a:solidFill>
                <a:latin typeface="Calibri"/>
              </a:rPr>
              <a:t>Desafios de combate ENADE com 5 questões pedagógicas.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UC07: Pontuar Estrelas: </a:t>
            </a:r>
            <a:r>
              <a:rPr sz="1000">
                <a:solidFill>
                  <a:srgbClr val="CBD5E1"/>
                </a:solidFill>
                <a:latin typeface="Calibri"/>
              </a:rPr>
              <a:t>Regra GREATEST (0 a 3★) e patente de Plebeu a Rei.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UC08: Consultar Dashboard: </a:t>
            </a:r>
            <a:r>
              <a:rPr sz="1000">
                <a:solidFill>
                  <a:srgbClr val="CBD5E1"/>
                </a:solidFill>
                <a:latin typeface="Calibri"/>
              </a:rPr>
              <a:t>Gráficos de aproveitamento e taxa de acerto por matéria.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RELACIONAMENTOS E DEPENDÊNCIAS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Inclui validação mandatória (&lt;&lt;include&gt;&gt;) de herói e extensão opcional (&lt;&lt;extend&gt;&gt;) para ativação do Modo Offline em caso de indisponibilidade.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MODELAGEM FUNCIONAL · UML 2.5</a:t>
            </a:r>
          </a:p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Diagrama de Casos de Uso — Perfil Professor / Docente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577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sos de uso (Professor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79267"/>
            <a:ext cx="5212080" cy="39053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63040"/>
            <a:ext cx="496793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VISÃO GERAL DO ATOR DOCENTE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Permite que professores das disciplinas acadêmicas façam a curadoria contínua de conteúdo avaliativo e acompanhem o rendimento de suas turmas em tempo real.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CASOS DE USO PRINCIPAIS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UC10: Gerenciar Questões: </a:t>
            </a:r>
            <a:r>
              <a:rPr sz="1000">
                <a:solidFill>
                  <a:srgbClr val="CBD5E1"/>
                </a:solidFill>
                <a:latin typeface="Calibri"/>
              </a:rPr>
              <a:t>CRUD completo de enunciados, 4 alternativas e gabarito restrito ao Reino vinculado ao docente.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UC11: Acompanhar Alunos: </a:t>
            </a:r>
            <a:r>
              <a:rPr sz="1000">
                <a:solidFill>
                  <a:srgbClr val="CBD5E1"/>
                </a:solidFill>
                <a:latin typeface="Calibri"/>
              </a:rPr>
              <a:t>Busca instantânea e visualização de fases completadas, títulos e percentuais de acerto.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UC13: Acessibilidade: </a:t>
            </a:r>
            <a:r>
              <a:rPr sz="1000">
                <a:solidFill>
                  <a:srgbClr val="CBD5E1"/>
                </a:solidFill>
                <a:latin typeface="Calibri"/>
              </a:rPr>
              <a:t>Uso em modo claro/escuro para ambientes de baixa luminosidade.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REGRAS DE SEGURANÇA &amp; BLINDAGEM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O papel 'professor' possui autorização de escrita estritamente delimitada: um professor de Python não pode editar questões de Banco de Dados ou criar contas administrativas.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MODELAGEM FUNCIONAL · UML 2.5</a:t>
            </a:r>
          </a:p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Diagrama de Casos de Uso — Perfil Administrador do 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577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sos de uso (Administrador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95220"/>
            <a:ext cx="5212080" cy="387339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63040"/>
            <a:ext cx="496793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VISÃO GERAL DO ATOR ADMINISTRADOR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Responsável pela governança global, auditoria de acessos e sustentação operacional da plataforma Tronus Desktop.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CASOS DE USO ADMINISTRATIVOS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UC12: Governança do Sistema: </a:t>
            </a:r>
            <a:r>
              <a:rPr sz="1000">
                <a:solidFill>
                  <a:srgbClr val="CBD5E1"/>
                </a:solidFill>
                <a:latin typeface="Calibri"/>
              </a:rPr>
              <a:t>Acesso ao painel analítico com contadores consolidados de usuários, heróis, questões e estrelas.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UC14: Gestão de Papéis (RBAC): </a:t>
            </a:r>
            <a:r>
              <a:rPr sz="1000">
                <a:solidFill>
                  <a:srgbClr val="CBD5E1"/>
                </a:solidFill>
                <a:latin typeface="Calibri"/>
              </a:rPr>
              <a:t>Alternância dinâmica de permissões de acesso (aluno ⇋ professor ⇋ admin).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UC15: Provisionamento de Contas: </a:t>
            </a:r>
            <a:r>
              <a:rPr sz="1000">
                <a:solidFill>
                  <a:srgbClr val="CBD5E1"/>
                </a:solidFill>
                <a:latin typeface="Calibri"/>
              </a:rPr>
              <a:t>Cadastro manual de credenciais institucionais e professores.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Auditoria &amp; Proteção: </a:t>
            </a:r>
            <a:r>
              <a:rPr sz="1000">
                <a:solidFill>
                  <a:srgbClr val="CBD5E1"/>
                </a:solidFill>
                <a:latin typeface="Calibri"/>
              </a:rPr>
              <a:t>Blindagem contra exclusão acidental da conta mestre do sistema.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CONFORMIDADE E INTEGRIDADE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Assegura conformidade com o princípio de menor privilégio (Least Privilege) e rastreabilidade total de modificações cadastrais.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DIAGRAMA DE ATIVIDADES · UML 2.5</a:t>
            </a:r>
          </a:p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DA01 — Jornada Gamificada do Aluno (Resolução e Evolução)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577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01 - Jornada Gamificada do Alu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732" y="1645920"/>
            <a:ext cx="3295415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63040"/>
            <a:ext cx="496793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OBJETIVO DO FLUXO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Mapear o fluxo nuclear de aprendizagem: seleção do reino, resolução sequencial de 5 questões pedagógicas com feedback dinâmico e recálculo da patente nobiliárquica.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RAIAS DE RESPONSABILIDADE (SWIMLANES)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Aluno / Estudante: </a:t>
            </a:r>
            <a:r>
              <a:rPr sz="1000">
                <a:solidFill>
                  <a:srgbClr val="CBD5E1"/>
                </a:solidFill>
                <a:latin typeface="Calibri"/>
              </a:rPr>
              <a:t>Navega pelos reinos, seleciona fase e marca alternativas A-D.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Tronus Desktop (.NET 10): </a:t>
            </a:r>
            <a:r>
              <a:rPr sz="1000">
                <a:solidFill>
                  <a:srgbClr val="CBD5E1"/>
                </a:solidFill>
                <a:latin typeface="Calibri"/>
              </a:rPr>
              <a:t>Carrega UcQuiz, empacota respostas e renderiza ResultCard.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API Central / Supabase: </a:t>
            </a:r>
            <a:r>
              <a:rPr sz="1000">
                <a:solidFill>
                  <a:srgbClr val="CBD5E1"/>
                </a:solidFill>
                <a:latin typeface="Calibri"/>
              </a:rPr>
              <a:t>Compara gabaritos, calcula estrelas e atualiza total do Herói.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REGRAS OPERACIONAIS CRÍTICAS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Regra GREATEST: </a:t>
            </a:r>
            <a:r>
              <a:rPr sz="1000">
                <a:solidFill>
                  <a:srgbClr val="CBD5E1"/>
                </a:solidFill>
                <a:latin typeface="Calibri"/>
              </a:rPr>
              <a:t>Preserva o melhor desempenho histórico caso o aluno refaça a fase.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Evolução Nobiliárquica: </a:t>
            </a:r>
            <a:r>
              <a:rPr sz="1000">
                <a:solidFill>
                  <a:srgbClr val="CBD5E1"/>
                </a:solidFill>
                <a:latin typeface="Calibri"/>
              </a:rPr>
              <a:t>Plebeu (0★) ➔ Cavaleiro (15★) ➔ Duque (30★) ➔ Rei (45★).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RASTREABILIDADE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Requisitos RF05, RF06 e RF07 implementados em UcReinos.cs e UcQuiz.cs.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DIAGRAMA DE ATIVIDADES · UML 2.5</a:t>
            </a:r>
          </a:p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DA02 — Resiliência Operacional e Fallback para o Modo Offline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577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02 - Resiliencia e Fallback Off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56630"/>
            <a:ext cx="5212080" cy="435057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63040"/>
            <a:ext cx="496793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OBJETIVO DO FLUXO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Garantir tolerância a falhas locais para a banca examinadora da UNIP através de chaveamento imperceptível para simulação autônoma em memória.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RAIAS E COMPONENTES ENVOLVIDOS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Usuário / Avaliador: </a:t>
            </a:r>
            <a:r>
              <a:rPr sz="1000">
                <a:solidFill>
                  <a:srgbClr val="CBD5E1"/>
                </a:solidFill>
                <a:latin typeface="Calibri"/>
              </a:rPr>
              <a:t>Tenta login ou clica em '⚡ ENTRAR EM MODO OFFLINE'.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Tronus Desktop (ApiService): </a:t>
            </a:r>
            <a:r>
              <a:rPr sz="1000">
                <a:solidFill>
                  <a:srgbClr val="CBD5E1"/>
                </a:solidFill>
                <a:latin typeface="Calibri"/>
              </a:rPr>
              <a:t>Timeout de 8s na porta 443; captura TimeoutException/HttpRequestException.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OfflineDataService (RAM): </a:t>
            </a:r>
            <a:r>
              <a:rPr sz="1000">
                <a:solidFill>
                  <a:srgbClr val="CBD5E1"/>
                </a:solidFill>
                <a:latin typeface="Calibri"/>
              </a:rPr>
              <a:t>Banco estático em memória com dados pré-carregados (Sir Arthur, Duque, 38★).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COMPORTAMENTO DO SISTEMA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Badge Visual na TopBar: </a:t>
            </a:r>
            <a:r>
              <a:rPr sz="1000">
                <a:solidFill>
                  <a:srgbClr val="CBD5E1"/>
                </a:solidFill>
                <a:latin typeface="Calibri"/>
              </a:rPr>
              <a:t>Altera estado para '⚡ Offline (Demo)' em tom âmbar sem travar UI.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Zero Quebra de Navegação: </a:t>
            </a:r>
            <a:r>
              <a:rPr sz="1000">
                <a:solidFill>
                  <a:srgbClr val="CBD5E1"/>
                </a:solidFill>
                <a:latin typeface="Calibri"/>
              </a:rPr>
              <a:t>Todas as 15 fases, desafios e KPIs funcionam 100% offline.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RASTREABILIDADE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Requisito Não Funcional RNF05 implementado em OfflineDataService.cs.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DIAGRAMA DE ATIVIDADES · UML 2.5</a:t>
            </a:r>
          </a:p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DA03 — Gestão Pedagógica de Questões pelo Professor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577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03 - Gestao Pedagogica Doc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142" y="1645920"/>
            <a:ext cx="4486595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63040"/>
            <a:ext cx="496793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OBJETIVO DO FLUXO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Formalizar as operações docentes de manutenção do banco de questões e acompanhamento acadêmico de turmas.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RAIAS E LÓGICA DE NEGÓCIO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Professor / Docente: </a:t>
            </a:r>
            <a:r>
              <a:rPr sz="1000">
                <a:solidFill>
                  <a:srgbClr val="CBD5E1"/>
                </a:solidFill>
                <a:latin typeface="Calibri"/>
              </a:rPr>
              <a:t>Seleciona reino/fase, cadastra questão ou consulta alunos.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Desktop View (UcProfessor): </a:t>
            </a:r>
            <a:r>
              <a:rPr sz="1000">
                <a:solidFill>
                  <a:srgbClr val="CBD5E1"/>
                </a:solidFill>
                <a:latin typeface="Calibri"/>
              </a:rPr>
              <a:t>Validação local de preenchimento obrigatório e unicidade de gabarito.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API REST &amp; Supabase: </a:t>
            </a:r>
            <a:r>
              <a:rPr sz="1000">
                <a:solidFill>
                  <a:srgbClr val="CBD5E1"/>
                </a:solidFill>
                <a:latin typeface="Calibri"/>
              </a:rPr>
              <a:t>Validação de autorização RBAC e persistência em cascata.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DESTAQUES DA ENGENHARIA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Tratamento de Exceções: </a:t>
            </a:r>
            <a:r>
              <a:rPr sz="1000">
                <a:solidFill>
                  <a:srgbClr val="CBD5E1"/>
                </a:solidFill>
                <a:latin typeface="Calibri"/>
              </a:rPr>
              <a:t>Feedback imediato na tela caso o enunciado ou gabarito estejam inválidos.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Filtro Dinâmico em Grid: </a:t>
            </a:r>
            <a:r>
              <a:rPr sz="1000">
                <a:solidFill>
                  <a:srgbClr val="CBD5E1"/>
                </a:solidFill>
                <a:latin typeface="Calibri"/>
              </a:rPr>
              <a:t>Busca instantânea por nome ou e-mail sem requisições desnecessárias.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RASTREABILIDADE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Requisitos RF11 e RF12 implementados em UcProfessor.cs.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DIAGRAMA DE ATIVIDADES · UML 2.5</a:t>
            </a:r>
          </a:p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DA04 — Recuperação Segura de Credenciais (Wizard SMS)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577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04 - Recuperacao Segura de Credencia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916" y="1645920"/>
            <a:ext cx="3671047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63040"/>
            <a:ext cx="496793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OBJETIVO DO FLUXO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Modelar o fluxo guiado em 3 etapas de restauração de senha esquecida via segundo fator de autenticação (2FA) simulado por SMS.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ETAPAS DO WIZARD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Etapa 1: Identificação: </a:t>
            </a:r>
            <a:r>
              <a:rPr sz="1000">
                <a:solidFill>
                  <a:srgbClr val="CBD5E1"/>
                </a:solidFill>
                <a:latin typeface="Calibri"/>
              </a:rPr>
              <a:t>Validação de formato de telefone/celular com Regex.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Etapa 2: Validação SMS: </a:t>
            </a:r>
            <a:r>
              <a:rPr sz="1000">
                <a:solidFill>
                  <a:srgbClr val="CBD5E1"/>
                </a:solidFill>
                <a:latin typeface="Calibri"/>
              </a:rPr>
              <a:t>Geração e conferência de token de 6 dígitos temporizado.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Etapa 3: Redefinição: </a:t>
            </a:r>
            <a:r>
              <a:rPr sz="1000">
                <a:solidFill>
                  <a:srgbClr val="CBD5E1"/>
                </a:solidFill>
                <a:latin typeface="Calibri"/>
              </a:rPr>
              <a:t>Digitação de nova senha com PasswordToggleButton e critérios de complexidade.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ASPECTOS DE SEGURANÇA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Controle de Tentativas: </a:t>
            </a:r>
            <a:r>
              <a:rPr sz="1000">
                <a:solidFill>
                  <a:srgbClr val="CBD5E1"/>
                </a:solidFill>
                <a:latin typeface="Calibri"/>
              </a:rPr>
              <a:t>Loop de repetição em caso de código divergente.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Hashing Criptográfico: </a:t>
            </a:r>
            <a:r>
              <a:rPr sz="1000">
                <a:solidFill>
                  <a:srgbClr val="CBD5E1"/>
                </a:solidFill>
                <a:latin typeface="Calibri"/>
              </a:rPr>
              <a:t>Envio protegido para /auth/reset-password e atualização no banco.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RASTREABILIDADE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Requisito RF10 implementado em UcForgotPassword.cs.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DIAGRAMA DE ATIVIDADES · UML 2.5</a:t>
            </a:r>
          </a:p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DA05 — Governança Global e Gestão de Usuários (RBAC)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577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05 - Governanca Global e RB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472" y="1645920"/>
            <a:ext cx="3775934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63040"/>
            <a:ext cx="496793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OBJETIVO DO FLUXO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Mapear as operações de auditoria, concessão de privilégios de acesso e provisionamento de contas pelo administrador.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RAIAS E CONTROLES DE SISTEMA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Administrador: </a:t>
            </a:r>
            <a:r>
              <a:rPr sz="1000">
                <a:solidFill>
                  <a:srgbClr val="CBD5E1"/>
                </a:solidFill>
                <a:latin typeface="Calibri"/>
              </a:rPr>
              <a:t>Consulta KPIs, filtra usuários e comuta permissões.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Admin System (UcAdmin): </a:t>
            </a:r>
            <a:r>
              <a:rPr sz="1000">
                <a:solidFill>
                  <a:srgbClr val="CBD5E1"/>
                </a:solidFill>
                <a:latin typeface="Calibri"/>
              </a:rPr>
              <a:t>Agrega contadores e bloqueia exclusão da conta mestre.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API Central &amp; Supabase: </a:t>
            </a:r>
            <a:r>
              <a:rPr sz="1000">
                <a:solidFill>
                  <a:srgbClr val="CBD5E1"/>
                </a:solidFill>
                <a:latin typeface="Calibri"/>
              </a:rPr>
              <a:t>Processa PATCH /admin/usuarios/id/papel e atualiza claims JWT.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MECANISMOS DE BLINDAGEM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Diálogo de Confirmação: </a:t>
            </a:r>
            <a:r>
              <a:rPr sz="1000">
                <a:solidFill>
                  <a:srgbClr val="CBD5E1"/>
                </a:solidFill>
                <a:latin typeface="Calibri"/>
              </a:rPr>
              <a:t>Aviso modal antes de aplicar alterações irreversíveis.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Proteção SuperAdmin: </a:t>
            </a:r>
            <a:r>
              <a:rPr sz="1000">
                <a:solidFill>
                  <a:srgbClr val="CBD5E1"/>
                </a:solidFill>
                <a:latin typeface="Calibri"/>
              </a:rPr>
              <a:t>Impede remoção acidental do usuário administrador primário.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RASTREABILIDADE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Requisitos RF13, RF14 e RF15 implementados em UcAdmin.cs.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DIAGRAMA DE ATIVIDADES · UML 2.5</a:t>
            </a:r>
          </a:p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DA06 — Ciclo Universal de Acessibilidade e Alternância de Temas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577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06 - Acessibilidade e Temas WC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53612"/>
            <a:ext cx="5212080" cy="29566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63040"/>
            <a:ext cx="496793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OBJETIVO DO FLUXO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Descrever o ciclo síncrono de comutação visual entre o tema Dark Fantasy e o tema Claro de alto contraste sem fechamento ou piscar de tela.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RAIAS E ARQUITETURA VISUAL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Usuário em Qualquer Tela: </a:t>
            </a:r>
            <a:r>
              <a:rPr sz="1000">
                <a:solidFill>
                  <a:srgbClr val="CBD5E1"/>
                </a:solidFill>
                <a:latin typeface="Calibri"/>
              </a:rPr>
              <a:t>Acionamento via clique no botão TopBar ou atalhos Ctrl+T / Alt+A.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AccessibilityThemeButton: </a:t>
            </a:r>
            <a:r>
              <a:rPr sz="1000">
                <a:solidFill>
                  <a:srgbClr val="CBD5E1"/>
                </a:solidFill>
                <a:latin typeface="Calibri"/>
              </a:rPr>
              <a:t>Componente vetorial GDI+ animado (Sol brilhante ⇋ Lua crescente).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ThemeEngine (Theme.cs): </a:t>
            </a:r>
            <a:r>
              <a:rPr sz="1000">
                <a:solidFill>
                  <a:srgbClr val="CBD5E1"/>
                </a:solidFill>
                <a:latin typeface="Calibri"/>
              </a:rPr>
              <a:t>Inversão da flag IsDarkMode e disparo do evento global ThemeChanged.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CONFORMIDADE WCAG AAA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Contraste Superior: </a:t>
            </a:r>
            <a:r>
              <a:rPr sz="1000">
                <a:solidFill>
                  <a:srgbClr val="CBD5E1"/>
                </a:solidFill>
                <a:latin typeface="Calibri"/>
              </a:rPr>
              <a:t>Taxa de luminância de 11:1 no modo claro (#F4EEDB / #1F2937).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▪ </a:t>
            </a:r>
            <a:r>
              <a:rPr sz="1050" b="1">
                <a:solidFill>
                  <a:srgbClr val="F8FAFC"/>
                </a:solidFill>
                <a:latin typeface="Calibri"/>
              </a:rPr>
              <a:t>Preservação de Texturas: </a:t>
            </a:r>
            <a:r>
              <a:rPr sz="1000">
                <a:solidFill>
                  <a:srgbClr val="CBD5E1"/>
                </a:solidFill>
                <a:latin typeface="Calibri"/>
              </a:rPr>
              <a:t>Pintura direta em buffer sem destruir as artes dos reinos.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RASTREABILIDADE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Requisito RNF03 implementado em AccessibilityThemeButton.cs e Theme.cs.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DIAGRAMA DE SEQUÊNCIA · UML 2.5</a:t>
            </a:r>
          </a:p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DS01 — Tela Inicial e Boas-Vindas (UcLanding)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577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S01 - Tela Landing (UcLandi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65799"/>
            <a:ext cx="5212080" cy="373224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63040"/>
            <a:ext cx="496793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DESCRIÇÃO DA DINÂMICA TEMPORAL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Ponto de entrada da aplicação. MainForm carrega arte hero medieval, verifica resoluções e inicializa o pipeline de estilização visual.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LIFELINES E COMPONENTES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Usuário, MainForm (Container SPA), UcLanding e Theme.cs.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TROCA DE MENSAGENS &amp; RESPOSTA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Ao clicar em 'JÁ TENHO CONTA' ou 'CRIAR CONTA', dispara MainForm.LoadControl() substituindo o UserControl ativo sem recriar janelas.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ARQUITETURA E CONTRATOS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Comunicação stateless com Bearer JWT injetado no header HTTP. Tratamento padronizado de exceções (ApiException).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DIAGRAMA DE SEQUÊNCIA · UML 2.5</a:t>
            </a:r>
          </a:p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DS02 — Autenticação e Roteamento por Papel (UcLogin)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577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S02 - Tela Login (UcLogin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65840"/>
            <a:ext cx="5212080" cy="313215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63040"/>
            <a:ext cx="496793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DESCRIÇÃO DA DINÂMICA TEMPORAL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Captura credenciais, submete POST /auth/login e realiza o roteamento condicional dependendo do papel retornado (aluno, prof ou admin).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LIFELINES E COMPONENTES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Usuário, UcLogin, ApiService, SessionManager e API Central.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TROCA DE MENSAGENS &amp; RESPOSTA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Token JWT recebido é gravado no SessionManager. Se for o 1º login do aluno (sem herói), redireciona automaticamente para UcCharacter; senão, UcReinos.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ARQUITETURA E CONTRATOS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Comunicação stateless com Bearer JWT injetado no header HTTP. Tratamento padronizado de exceções (ApiException).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DIAGRAMA DE SEQUÊNCIA · UML 2.5</a:t>
            </a:r>
          </a:p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DS03 — Cadastro de Novo Estudante (UcRegister)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577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S03 - Tela Cadastro (UcRegister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01232"/>
            <a:ext cx="5212080" cy="28613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63040"/>
            <a:ext cx="496793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DESCRIÇÃO DA DINÂMICA TEMPORAL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Formulário de autosserviço para novos alunos calouros de ADS na plataforma Tronus.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LIFELINES E COMPONENTES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Estudante, UcRegister, PasswordToggleButton e ApiService.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TROCA DE MENSAGENS &amp; RESPOSTA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Validação client-side de e-mail e força de senha; envio de POST /auth/register; alerta modal de boas-vindas e redirecionamento para login.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ARQUITETURA E CONTRATOS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Comunicação stateless com Bearer JWT injetado no header HTTP. Tratamento padronizado de exceções (ApiException).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DIAGRAMA DE SEQUÊNCIA · UML 2.5</a:t>
            </a:r>
          </a:p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DS04 — Recuperação Guiada de Senha (UcForgotPassword)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577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S04 - Recuperar Senha (UcForgotPassword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81551"/>
            <a:ext cx="5212080" cy="29007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63040"/>
            <a:ext cx="496793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DESCRIÇÃO DA DINÂMICA TEMPORAL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Processo em 3 etapas para recuperação segura de credenciais através de validação SMS temporizada.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LIFELINES E COMPONENTES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Usuário, UcForgotPassword, Timer local, ApiService e Serviço de Autenticação.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TROCA DE MENSAGENS &amp; RESPOSTA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Envio de telefone ➔ Recebimento de banner simulado TRONUS-XXXXXX ➔ Conferência de token ➔ Atualização com POST /auth/reset-password.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ARQUITETURA E CONTRATOS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Comunicação stateless com Bearer JWT injetado no header HTTP. Tratamento padronizado de exceções (ApiException).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DIAGRAMA DE SEQUÊNCIA · UML 2.5</a:t>
            </a:r>
          </a:p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DS05 — Forja e Criação do Herói (UcCharacter)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577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S05 - Forja do Heroi (UcCharacter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57726"/>
            <a:ext cx="5212080" cy="27483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63040"/>
            <a:ext cx="496793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DESCRIÇÃO DA DINÂMICA TEMPORAL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Criação da identidade gamificada do aluno calouro (obrigatória para desbloqueio dos reinos acadêmicos).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LIFELINES E COMPONENTES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Aluno, UcCharacter, Galeria de Avatares (masc/fem), ApiService e Supabase.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TROCA DE MENSAGENS &amp; RESPOSTA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Alternância de gênero atualiza os avatares em tempo real; batismo do herói submete POST /personagens; transição direta para o mapa.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ARQUITETURA E CONTRATOS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Comunicação stateless com Bearer JWT injetado no header HTTP. Tratamento padronizado de exceções (ApiException).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DIAGRAMA DE SEQUÊNCIA · UML 2.5</a:t>
            </a:r>
          </a:p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DS06 — Mapa dos 5 Reinos e Fases (UcReinos)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577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S06 - Selecao de Reinos (UcReinos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10744"/>
            <a:ext cx="5212080" cy="324235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63040"/>
            <a:ext cx="496793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DESCRIÇÃO DA DINÂMICA TEMPORAL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Hub central da aventura medieval: visualização dos 5 Reinos (disciplinas) e fases avaliativas.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LIFELINES E COMPONENTES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Aluno, UcReinos, HUD Header, ApiService e Endpoints REST.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TROCA DE MENSAGENS &amp; RESPOSTA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Três chamadas HTTP paralelas (/personagens/me, /reinos, /progresso); cálculo de fases liberadas baseado na regra Estrelas &gt; 0.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ARQUITETURA E CONTRATOS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Comunicação stateless com Bearer JWT injetado no header HTTP. Tratamento padronizado de exceções (ApiException).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DIAGRAMA DE SEQUÊNCIA · UML 2.5</a:t>
            </a:r>
          </a:p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DS07 — Desafio Gamificado de Combate (UcQuiz)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577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S07 - Desafio e Quiz (UcQuiz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7842"/>
            <a:ext cx="5212080" cy="392815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63040"/>
            <a:ext cx="496793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DESCRIÇÃO DA DINÂMICA TEMPORAL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Execução do quiz com 5 questões pedagógicas roláveis no estilo ENADE e submissão em lote.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LIFELINES E COMPONENTES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Aluno, UcQuiz, Buffer local de respostas, ApiService e Motor de Avaliação.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TROCA DE MENSAGENS &amp; RESPOSTA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GET /fases/id/questoes (sem gabarito) ➔ navegação 'Próxima/Anterior' ➔ POST /responder ➔ Exibição centralizada do ResultCard com estrelas.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ARQUITETURA E CONTRATOS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Comunicação stateless com Bearer JWT injetado no header HTTP. Tratamento padronizado de exceções (ApiException).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DIAGRAMA DE SEQUÊNCIA · UML 2.5</a:t>
            </a:r>
          </a:p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DS08 — Dashboard Analítico de Desempenho (UcDashboard)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577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S08 - Dashboard do Aluno (UcDashboard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72079"/>
            <a:ext cx="5212080" cy="271968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63040"/>
            <a:ext cx="496793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DESCRIÇÃO DA DINÂMICA TEMPORAL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Métricas de engajamento do estudante com total de estrelas, taxa global de acerto e progresso por disciplina.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LIFELINES E COMPONENTES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Aluno, UcDashboard, ApiService e Banco de Dados Supabase.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TROCA DE MENSAGENS &amp; RESPOSTA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GET /dashboard/resumo; agregação em cards numéricos dourados; montagem da DataGridView com histórico de desafios.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ARQUITETURA E CONTRATOS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Comunicação stateless com Bearer JWT injetado no header HTTP. Tratamento padronizado de exceções (ApiException).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DIAGRAMA DE SEQUÊNCIA · UML 2.5</a:t>
            </a:r>
          </a:p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DS09 — Hall dos Heróis / Ranking Acadêmico (UcRanking)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577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S09 - Ranking Academico (UcRanki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17241"/>
            <a:ext cx="5212080" cy="26293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63040"/>
            <a:ext cx="496793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DESCRIÇÃO DA DINÂMICA TEMPORAL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Classificação geral dos heróis da turma incentivando competição acadêmica saudável.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LIFELINES E COMPONENTES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Aluno, UcRanking, Pódio Visual (Ouro/Prata/Bronze) e ApiService.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TROCA DE MENSAGENS &amp; RESPOSTA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GET /ranking; renderização do Top 3 líderes no pódio superior; listagem paginada e destaque visual com card iluminado do herói logado.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ARQUITETURA E CONTRATOS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Comunicação stateless com Bearer JWT injetado no header HTTP. Tratamento padronizado de exceções (ApiException).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DIAGRAMA DE SEQUÊNCIA · UML 2.5</a:t>
            </a:r>
          </a:p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DS10 — Portal do Professor / Curadoria (UcProfessor)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577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S10 - Painel do Professor (UcProfessor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66731"/>
            <a:ext cx="5212080" cy="333037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63040"/>
            <a:ext cx="496793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DESCRIÇÃO DA DINÂMICA TEMPORAL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Ambiente de gestão docente para criação de itens pedagógicos e acompanhamento de turmas.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LIFELINES E COMPONENTES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Docente, UcProfessor, Modal de Questão, ApiService e Banco Central.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TROCA DE MENSAGENS &amp; RESPOSTA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Detecção do reino do professor ➔ listagem de itens cadastrados ➔ submissão de nova questão ➔ remoção em cascata com diálogo modal.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ARQUITETURA E CONTRATOS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Comunicação stateless com Bearer JWT injetado no header HTTP. Tratamento padronizado de exceções (ApiException).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DIAGRAMA DE SEQUÊNCIA · UML 2.5</a:t>
            </a:r>
          </a:p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DS11 — Painel Administrativo de Governança (UcAdmin)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577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S11 - Painel do Administrador (UcAdmin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22282"/>
            <a:ext cx="5212080" cy="361927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463040"/>
            <a:ext cx="496793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4192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DESCRIÇÃO DA DINÂMICA TEMPORAL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Supervisão total da plataforma com controle de acesso baseado em papéis (RBAC).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LIFELINES E COMPONENTES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Administrador, UcAdmin, DialogModal, ApiService e Supabase.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TROCA DE MENSAGENS &amp; RESPOSTA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GET /admin/resumo (KPIs) ➔ busca textual de usuários ➔ PATCH de papel (aluno/prof/admin) ➔ criação de contas e bloqueio do admin mestre.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D4AF37"/>
                </a:solidFill>
                <a:latin typeface="Arial"/>
              </a:defRPr>
            </a:pPr>
            <a:r>
              <a:t>ARQUITETURA E CONTRATOS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Calibri"/>
              </a:defRPr>
            </a:pPr>
            <a:r>
              <a:t>Comunicação stateless com Bearer JWT injetado no header HTTP. Tratamento padronizado de exceções (ApiException).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Arial"/>
              </a:defRPr>
            </a:pPr>
            <a:r>
              <a:t>SÍNTESE DE ENGENHARIA DE SOFTWARE</a:t>
            </a:r>
          </a:p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Matriz de Rastreabilidade e Arquitetura Thin 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4AF37"/>
                </a:solidFill>
                <a:latin typeface="Arial"/>
              </a:defRPr>
            </a:pPr>
            <a:r>
              <a:t>PILIDADE E QUALIDADE ARQUITETURAL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38BDF8"/>
                </a:solidFill>
                <a:latin typeface="Calibri"/>
              </a:rPr>
              <a:t>✔ Paradigma Thin Client: </a:t>
            </a:r>
            <a:r>
              <a:rPr sz="1000">
                <a:solidFill>
                  <a:srgbClr val="CBD5E1"/>
                </a:solidFill>
                <a:latin typeface="Calibri"/>
              </a:rPr>
              <a:t>O cliente desktop não contém credenciais ou conexões diretas de banco de dados, protegendo regras de negócio e integridade.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38BDF8"/>
                </a:solidFill>
                <a:latin typeface="Calibri"/>
              </a:rPr>
              <a:t>✔ Container SPA Desktop: </a:t>
            </a:r>
            <a:r>
              <a:rPr sz="1000">
                <a:solidFill>
                  <a:srgbClr val="CBD5E1"/>
                </a:solidFill>
                <a:latin typeface="Calibri"/>
              </a:rPr>
              <a:t>O MainForm opera com dimensões fixas (1024×768), alternando UserControls na mesma janela com zero flickering.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38BDF8"/>
                </a:solidFill>
                <a:latin typeface="Calibri"/>
              </a:rPr>
              <a:t>✔ Componentes GDI+ Autorais: </a:t>
            </a:r>
            <a:r>
              <a:rPr sz="1000">
                <a:solidFill>
                  <a:srgbClr val="CBD5E1"/>
                </a:solidFill>
                <a:latin typeface="Calibri"/>
              </a:rPr>
              <a:t>Botões arredondados, painéis translúcidos medievais, olho de senha e botão vetorial de tema WCAG AAA.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38BDF8"/>
                </a:solidFill>
                <a:latin typeface="Calibri"/>
              </a:rPr>
              <a:t>✔ Resiliência Autônoma: </a:t>
            </a:r>
            <a:r>
              <a:rPr sz="1000">
                <a:solidFill>
                  <a:srgbClr val="CBD5E1"/>
                </a:solidFill>
                <a:latin typeface="Calibri"/>
              </a:rPr>
              <a:t>Transição transparente para simulação em memória garantindo que a banca examinadora avalie todas as funções sem internet.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936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4AF37"/>
                </a:solidFill>
                <a:latin typeface="Arial"/>
              </a:defRPr>
            </a:pPr>
            <a:r>
              <a:t>COBERTURA DE MODELAGEM UML 2.5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4ADE80"/>
                </a:solidFill>
                <a:latin typeface="Calibri"/>
              </a:rPr>
              <a:t>✔ Casos de Uso (RF01 a RF15): </a:t>
            </a:r>
            <a:r>
              <a:rPr sz="1000">
                <a:solidFill>
                  <a:srgbClr val="CBD5E1"/>
                </a:solidFill>
                <a:latin typeface="Calibri"/>
              </a:rPr>
              <a:t>100% dos requisitos funcionais mapeados entre 3 atores formais (Estudante, Professor, Administrador).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4ADE80"/>
                </a:solidFill>
                <a:latin typeface="Calibri"/>
              </a:rPr>
              <a:t>✔ Diagramas de Atividades (DA01 a DA06): </a:t>
            </a:r>
            <a:r>
              <a:rPr sz="1000">
                <a:solidFill>
                  <a:srgbClr val="CBD5E1"/>
                </a:solidFill>
                <a:latin typeface="Calibri"/>
              </a:rPr>
              <a:t>Mapeamento rigoroso de regras de negócio, raias de controle e bifurcações procedurais.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4ADE80"/>
                </a:solidFill>
                <a:latin typeface="Calibri"/>
              </a:rPr>
              <a:t>✔ Diagramas de Sequência (DS01 a DS11): </a:t>
            </a:r>
            <a:r>
              <a:rPr sz="1000">
                <a:solidFill>
                  <a:srgbClr val="CBD5E1"/>
                </a:solidFill>
                <a:latin typeface="Calibri"/>
              </a:rPr>
              <a:t>Comunicação temporal detalhada para todas as telas do sistema Windows Forms.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4ADE80"/>
                </a:solidFill>
                <a:latin typeface="Calibri"/>
              </a:rPr>
              <a:t>✔ Compatibilidade Astah UML: </a:t>
            </a:r>
            <a:r>
              <a:rPr sz="1000">
                <a:solidFill>
                  <a:srgbClr val="CBD5E1"/>
                </a:solidFill>
                <a:latin typeface="Calibri"/>
              </a:rPr>
              <a:t>Arquivos de projeto oficiais .asta e .astah gerados e disponíveis para inspeção técnica.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097280"/>
            <a:ext cx="365760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65176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3200" b="1">
                <a:solidFill>
                  <a:srgbClr val="D4AF37"/>
                </a:solidFill>
                <a:latin typeface="Arial"/>
              </a:defRPr>
            </a:pPr>
            <a:r>
              <a:t>OBRIGADO PELA ATENÇÃO!</a:t>
            </a:r>
          </a:p>
          <a:p>
            <a:pPr algn="ctr">
              <a:spcAft>
                <a:spcPts val="1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A equipe Tronus coloca-se à disposição da ilustre banca examinadora para perguntas e considerações.</a:t>
            </a:r>
          </a:p>
          <a:p>
            <a:pPr algn="ctr">
              <a:defRPr sz="1300" b="1">
                <a:solidFill>
                  <a:srgbClr val="B8860B"/>
                </a:solidFill>
                <a:latin typeface="Arial"/>
              </a:defRPr>
            </a:pPr>
            <a:r>
              <a:t>⚔️ TRONUS DESKTOP · UNIVERSIDADE PAULISTA (UNIP) · 2026 ⚔️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